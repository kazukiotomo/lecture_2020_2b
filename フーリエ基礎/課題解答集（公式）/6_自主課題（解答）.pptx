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</p:sldIdLst>
  <p:sldSz cx="9144000" cy="6858000" type="screen4x3"/>
  <p:notesSz cx="6865938" cy="99949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4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emf"/><Relationship Id="rId4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9B6-61FB-41AB-ACC0-D5BA37B44714}" type="datetimeFigureOut">
              <a:rPr kumimoji="1" lang="ja-JP" altLang="en-US" smtClean="0"/>
              <a:t>2020/6/6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965E-0727-42AC-8DF9-BA7B5FE0FC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427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9B6-61FB-41AB-ACC0-D5BA37B44714}" type="datetimeFigureOut">
              <a:rPr kumimoji="1" lang="ja-JP" altLang="en-US" smtClean="0"/>
              <a:t>2020/6/6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965E-0727-42AC-8DF9-BA7B5FE0FC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2782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9B6-61FB-41AB-ACC0-D5BA37B44714}" type="datetimeFigureOut">
              <a:rPr kumimoji="1" lang="ja-JP" altLang="en-US" smtClean="0"/>
              <a:t>2020/6/6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965E-0727-42AC-8DF9-BA7B5FE0FC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194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9B6-61FB-41AB-ACC0-D5BA37B44714}" type="datetimeFigureOut">
              <a:rPr kumimoji="1" lang="ja-JP" altLang="en-US" smtClean="0"/>
              <a:t>2020/6/6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965E-0727-42AC-8DF9-BA7B5FE0FC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74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9B6-61FB-41AB-ACC0-D5BA37B44714}" type="datetimeFigureOut">
              <a:rPr kumimoji="1" lang="ja-JP" altLang="en-US" smtClean="0"/>
              <a:t>2020/6/6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965E-0727-42AC-8DF9-BA7B5FE0FC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273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9B6-61FB-41AB-ACC0-D5BA37B44714}" type="datetimeFigureOut">
              <a:rPr kumimoji="1" lang="ja-JP" altLang="en-US" smtClean="0"/>
              <a:t>2020/6/6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965E-0727-42AC-8DF9-BA7B5FE0FC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7525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9B6-61FB-41AB-ACC0-D5BA37B44714}" type="datetimeFigureOut">
              <a:rPr kumimoji="1" lang="ja-JP" altLang="en-US" smtClean="0"/>
              <a:t>2020/6/6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965E-0727-42AC-8DF9-BA7B5FE0FC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6417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9B6-61FB-41AB-ACC0-D5BA37B44714}" type="datetimeFigureOut">
              <a:rPr kumimoji="1" lang="ja-JP" altLang="en-US" smtClean="0"/>
              <a:t>2020/6/6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965E-0727-42AC-8DF9-BA7B5FE0FC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3875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9B6-61FB-41AB-ACC0-D5BA37B44714}" type="datetimeFigureOut">
              <a:rPr kumimoji="1" lang="ja-JP" altLang="en-US" smtClean="0"/>
              <a:t>2020/6/6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965E-0727-42AC-8DF9-BA7B5FE0FC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4549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9B6-61FB-41AB-ACC0-D5BA37B44714}" type="datetimeFigureOut">
              <a:rPr kumimoji="1" lang="ja-JP" altLang="en-US" smtClean="0"/>
              <a:t>2020/6/6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965E-0727-42AC-8DF9-BA7B5FE0FC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8358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9B6-61FB-41AB-ACC0-D5BA37B44714}" type="datetimeFigureOut">
              <a:rPr kumimoji="1" lang="ja-JP" altLang="en-US" smtClean="0"/>
              <a:t>2020/6/6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965E-0727-42AC-8DF9-BA7B5FE0FC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8976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049B6-61FB-41AB-ACC0-D5BA37B44714}" type="datetimeFigureOut">
              <a:rPr kumimoji="1" lang="ja-JP" altLang="en-US" smtClean="0"/>
              <a:t>2020/6/6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7965E-0727-42AC-8DF9-BA7B5FE0FC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15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emf"/><Relationship Id="rId9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20349"/>
            <a:ext cx="2992582" cy="440892"/>
          </a:xfrm>
        </p:spPr>
        <p:txBody>
          <a:bodyPr>
            <a:noAutofit/>
          </a:bodyPr>
          <a:lstStyle/>
          <a:p>
            <a:r>
              <a:rPr kumimoji="1" lang="ja-JP" altLang="en-US" sz="20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６</a:t>
            </a:r>
            <a:r>
              <a:rPr kumimoji="1" lang="en-US" altLang="ja-JP" sz="20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_</a:t>
            </a:r>
            <a:r>
              <a:rPr kumimoji="1" lang="ja-JP" altLang="en-US" sz="20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自主課題</a:t>
            </a:r>
            <a:r>
              <a:rPr kumimoji="1" lang="en-US" altLang="ja-JP" sz="20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(10</a:t>
            </a:r>
            <a:r>
              <a:rPr kumimoji="1" lang="ja-JP" altLang="en-US" sz="2000" dirty="0" smtClean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点満点）</a:t>
            </a:r>
            <a:endParaRPr kumimoji="1" lang="ja-JP" altLang="en-US" sz="20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376218"/>
            <a:ext cx="4784436" cy="138545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kumimoji="1" lang="ja-JP" altLang="en-US" sz="2000" dirty="0" smtClean="0"/>
              <a:t>は</a:t>
            </a:r>
            <a:r>
              <a:rPr kumimoji="1" lang="en-US" altLang="ja-JP" sz="2000" dirty="0" smtClean="0">
                <a:latin typeface="Symbol" panose="05050102010706020507" pitchFamily="18" charset="2"/>
              </a:rPr>
              <a:t>[-p, p]</a:t>
            </a:r>
            <a:r>
              <a:rPr kumimoji="1" lang="ja-JP" altLang="en-US" sz="2000" dirty="0" smtClean="0"/>
              <a:t>において微分可能で周期的だからフーリエ級数に展開される。しかし、その展開は直接に求められる。つまり、</a:t>
            </a:r>
            <a:endParaRPr kumimoji="1" lang="ja-JP" altLang="en-US" sz="2000" dirty="0"/>
          </a:p>
        </p:txBody>
      </p:sp>
      <p:graphicFrame>
        <p:nvGraphicFramePr>
          <p:cNvPr id="4" name="オブジェクト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411029"/>
              </p:ext>
            </p:extLst>
          </p:nvPr>
        </p:nvGraphicFramePr>
        <p:xfrm>
          <a:off x="5413086" y="660110"/>
          <a:ext cx="3619500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name="ワークシート" r:id="rId3" imgW="3619590" imgH="2295399" progId="Excel.Sheet.8">
                  <p:embed/>
                </p:oleObj>
              </mc:Choice>
              <mc:Fallback>
                <p:oleObj name="ワークシート" r:id="rId3" imgW="3619590" imgH="2295399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13086" y="660110"/>
                        <a:ext cx="3619500" cy="2295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オブジェクト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933043"/>
              </p:ext>
            </p:extLst>
          </p:nvPr>
        </p:nvGraphicFramePr>
        <p:xfrm>
          <a:off x="890588" y="569913"/>
          <a:ext cx="3659187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" name="Equation" r:id="rId5" imgW="2070000" imgH="393480" progId="Equation.DSMT4">
                  <p:embed/>
                </p:oleObj>
              </mc:Choice>
              <mc:Fallback>
                <p:oleObj name="Equation" r:id="rId5" imgW="20700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0588" y="569913"/>
                        <a:ext cx="3659187" cy="696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オブジェクト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971247"/>
              </p:ext>
            </p:extLst>
          </p:nvPr>
        </p:nvGraphicFramePr>
        <p:xfrm>
          <a:off x="842963" y="2634961"/>
          <a:ext cx="5780087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9" name="Equation" r:id="rId7" imgW="3784320" imgH="863280" progId="Equation.DSMT4">
                  <p:embed/>
                </p:oleObj>
              </mc:Choice>
              <mc:Fallback>
                <p:oleObj name="Equation" r:id="rId7" imgW="3784320" imgH="863280" progId="Equation.DSMT4">
                  <p:embed/>
                  <p:pic>
                    <p:nvPicPr>
                      <p:cNvPr id="5" name="オブジェクト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2963" y="2634961"/>
                        <a:ext cx="5780087" cy="1316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左右矢印 6"/>
          <p:cNvSpPr/>
          <p:nvPr/>
        </p:nvSpPr>
        <p:spPr>
          <a:xfrm>
            <a:off x="6433127" y="495269"/>
            <a:ext cx="1565564" cy="387927"/>
          </a:xfrm>
          <a:prstGeom prst="left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 smtClean="0">
                <a:solidFill>
                  <a:srgbClr val="0070C0"/>
                </a:solidFill>
              </a:rPr>
              <a:t>周期</a:t>
            </a:r>
            <a:r>
              <a:rPr kumimoji="1" lang="en-US" altLang="ja-JP" sz="1200" dirty="0" smtClean="0">
                <a:solidFill>
                  <a:srgbClr val="0070C0"/>
                </a:solidFill>
                <a:latin typeface="Symbol" panose="05050102010706020507" pitchFamily="18" charset="2"/>
              </a:rPr>
              <a:t>p</a:t>
            </a:r>
            <a:endParaRPr kumimoji="1" lang="ja-JP" altLang="en-US" sz="1200" dirty="0">
              <a:solidFill>
                <a:srgbClr val="0070C0"/>
              </a:solidFill>
              <a:latin typeface="Symbol" panose="05050102010706020507" pitchFamily="18" charset="2"/>
            </a:endParaRPr>
          </a:p>
        </p:txBody>
      </p:sp>
      <p:sp>
        <p:nvSpPr>
          <p:cNvPr id="8" name="コンテンツ プレースホルダー 2"/>
          <p:cNvSpPr txBox="1">
            <a:spLocks/>
          </p:cNvSpPr>
          <p:nvPr/>
        </p:nvSpPr>
        <p:spPr>
          <a:xfrm>
            <a:off x="528708" y="4021615"/>
            <a:ext cx="7975747" cy="753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ja-JP" altLang="en-US" sz="2000" dirty="0" smtClean="0"/>
              <a:t>が得られる。これは一様に収束するから、フーリエ級数である。よって、フーリエ係数より次式が得られる。</a:t>
            </a:r>
            <a:endParaRPr lang="ja-JP" altLang="en-US" sz="2000" dirty="0"/>
          </a:p>
        </p:txBody>
      </p:sp>
      <p:graphicFrame>
        <p:nvGraphicFramePr>
          <p:cNvPr id="9" name="オブジェクト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663618"/>
              </p:ext>
            </p:extLst>
          </p:nvPr>
        </p:nvGraphicFramePr>
        <p:xfrm>
          <a:off x="1265238" y="4854575"/>
          <a:ext cx="3967162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" name="Equation" r:id="rId9" imgW="2565360" imgH="1015920" progId="Equation.DSMT4">
                  <p:embed/>
                </p:oleObj>
              </mc:Choice>
              <mc:Fallback>
                <p:oleObj name="Equation" r:id="rId9" imgW="2565360" imgH="1015920" progId="Equation.DSMT4">
                  <p:embed/>
                  <p:pic>
                    <p:nvPicPr>
                      <p:cNvPr id="6" name="オブジェクト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65238" y="4854575"/>
                        <a:ext cx="3967162" cy="1566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8169510-7F76-4C38-AF3C-6A8C167374D7}"/>
              </a:ext>
            </a:extLst>
          </p:cNvPr>
          <p:cNvSpPr/>
          <p:nvPr/>
        </p:nvSpPr>
        <p:spPr>
          <a:xfrm>
            <a:off x="3445401" y="2625725"/>
            <a:ext cx="831036" cy="32991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169510-7F76-4C38-AF3C-6A8C167374D7}"/>
              </a:ext>
            </a:extLst>
          </p:cNvPr>
          <p:cNvSpPr/>
          <p:nvPr/>
        </p:nvSpPr>
        <p:spPr>
          <a:xfrm>
            <a:off x="4193308" y="3424671"/>
            <a:ext cx="623455" cy="32991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8169510-7F76-4C38-AF3C-6A8C167374D7}"/>
              </a:ext>
            </a:extLst>
          </p:cNvPr>
          <p:cNvSpPr/>
          <p:nvPr/>
        </p:nvSpPr>
        <p:spPr>
          <a:xfrm>
            <a:off x="2623127" y="2625724"/>
            <a:ext cx="646546" cy="32991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8169510-7F76-4C38-AF3C-6A8C167374D7}"/>
              </a:ext>
            </a:extLst>
          </p:cNvPr>
          <p:cNvSpPr/>
          <p:nvPr/>
        </p:nvSpPr>
        <p:spPr>
          <a:xfrm>
            <a:off x="4816763" y="5044786"/>
            <a:ext cx="415637" cy="32991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8169510-7F76-4C38-AF3C-6A8C167374D7}"/>
              </a:ext>
            </a:extLst>
          </p:cNvPr>
          <p:cNvSpPr/>
          <p:nvPr/>
        </p:nvSpPr>
        <p:spPr>
          <a:xfrm>
            <a:off x="1330035" y="5638006"/>
            <a:ext cx="665019" cy="32991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8354474" y="2564586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r>
              <a:rPr kumimoji="1" lang="en-US" altLang="ja-JP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ja-JP" sz="1200" dirty="0" smtClean="0">
                <a:latin typeface="Symbol" panose="05050102010706020507" pitchFamily="18" charset="2"/>
              </a:rPr>
              <a:t>×p)</a:t>
            </a:r>
            <a:endParaRPr kumimoji="1" lang="ja-JP" altLang="en-US" sz="1200" dirty="0">
              <a:latin typeface="Symbol" panose="05050102010706020507" pitchFamily="18" charset="2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7222836" y="791783"/>
            <a:ext cx="4379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kumimoji="1" lang="en-US" altLang="ja-JP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ja-JP" sz="1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74189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492</TotalTime>
  <Words>75</Words>
  <Application>Microsoft Office PowerPoint</Application>
  <PresentationFormat>画面に合わせる (4:3)</PresentationFormat>
  <Paragraphs>7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2</vt:i4>
      </vt:variant>
      <vt:variant>
        <vt:lpstr>スライド タイトル</vt:lpstr>
      </vt:variant>
      <vt:variant>
        <vt:i4>1</vt:i4>
      </vt:variant>
    </vt:vector>
  </HeadingPairs>
  <TitlesOfParts>
    <vt:vector size="12" baseType="lpstr">
      <vt:lpstr>HGP創英角ｺﾞｼｯｸUB</vt:lpstr>
      <vt:lpstr>游ゴシック</vt:lpstr>
      <vt:lpstr>游ゴシック Light</vt:lpstr>
      <vt:lpstr>Arial</vt:lpstr>
      <vt:lpstr>Calibri</vt:lpstr>
      <vt:lpstr>Calibri Light</vt:lpstr>
      <vt:lpstr>Symbol</vt:lpstr>
      <vt:lpstr>Times New Roman</vt:lpstr>
      <vt:lpstr>Office テーマ</vt:lpstr>
      <vt:lpstr>ワークシート</vt:lpstr>
      <vt:lpstr>Equation</vt:lpstr>
      <vt:lpstr>６_自主課題(10点満点）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オイラーの級数からの興味深い事実</dc:title>
  <dc:creator>YOSHIAKI</dc:creator>
  <cp:lastModifiedBy>山林 由明</cp:lastModifiedBy>
  <cp:revision>100</cp:revision>
  <cp:lastPrinted>2020-05-11T07:32:41Z</cp:lastPrinted>
  <dcterms:created xsi:type="dcterms:W3CDTF">2020-05-10T04:18:33Z</dcterms:created>
  <dcterms:modified xsi:type="dcterms:W3CDTF">2020-06-06T07:00:40Z</dcterms:modified>
</cp:coreProperties>
</file>